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C23C97-1404-48A9-A4E1-9671BFD3287E}">
  <a:tblStyle styleId="{C7C23C97-1404-48A9-A4E1-9671BFD328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7856C89-8946-46F5-80D5-34DB9731017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504d40a0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504d40a0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4d0792af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4d0792af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504d40a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504d40a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504d40a03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504d40a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5484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fr" sz="3000">
                <a:latin typeface="Arial"/>
                <a:ea typeface="Arial"/>
                <a:cs typeface="Arial"/>
                <a:sym typeface="Arial"/>
              </a:rPr>
              <a:t>Analyzing Human Motion for Predicting Penalty Direction in Football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131745" y="3357075"/>
            <a:ext cx="26616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Berrada Ismael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Communication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 credits</a:t>
            </a:r>
            <a:endParaRPr/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2965095" y="3357075"/>
            <a:ext cx="26616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Decléty Tanguy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Robotics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 credits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131750" y="548425"/>
            <a:ext cx="17718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fr" sz="1600">
                <a:solidFill>
                  <a:srgbClr val="EFEFEF"/>
                </a:solidFill>
                <a:latin typeface="Nunito"/>
                <a:ea typeface="Nunito"/>
                <a:cs typeface="Nunito"/>
                <a:sym typeface="Nunito"/>
              </a:rPr>
              <a:t>Supervisor : Saeed Saadatnejad</a:t>
            </a:r>
            <a:endParaRPr sz="1600">
              <a:solidFill>
                <a:srgbClr val="EFEFE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642" y="1677000"/>
            <a:ext cx="3955208" cy="29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is the problem</a:t>
            </a:r>
            <a:endParaRPr/>
          </a:p>
        </p:txBody>
      </p:sp>
      <p:sp>
        <p:nvSpPr>
          <p:cNvPr id="82" name="Google Shape;82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fr" sz="2000">
                <a:latin typeface="Arial"/>
                <a:ea typeface="Arial"/>
                <a:cs typeface="Arial"/>
                <a:sym typeface="Arial"/>
              </a:rPr>
              <a:t>Predicting the direction of a penalty kick solely based on the kicker's run-up remains a challenging task in sports analytics.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400300" y="2793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fr" sz="1879" u="sng">
                <a:latin typeface="Arial"/>
                <a:ea typeface="Arial"/>
                <a:cs typeface="Arial"/>
                <a:sym typeface="Arial"/>
              </a:rPr>
              <a:t>Detailed Statement:</a:t>
            </a:r>
            <a:r>
              <a:rPr lang="fr" sz="1679">
                <a:latin typeface="Arial"/>
                <a:ea typeface="Arial"/>
                <a:cs typeface="Arial"/>
                <a:sym typeface="Arial"/>
              </a:rPr>
              <a:t> "The project aims to predict the direction of a penalty kick by analyzing the pose and run-up of the kicker in the second before the kick."</a:t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3" y="3538125"/>
            <a:ext cx="2348175" cy="12270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1188050" y="2793075"/>
            <a:ext cx="245700" cy="55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00" y="663600"/>
            <a:ext cx="1652325" cy="19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8513" y="1598875"/>
            <a:ext cx="6765174" cy="256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Quick reminder :</a:t>
            </a:r>
            <a:endParaRPr/>
          </a:p>
        </p:txBody>
      </p:sp>
      <p:graphicFrame>
        <p:nvGraphicFramePr>
          <p:cNvPr id="97" name="Google Shape;97;p16"/>
          <p:cNvGraphicFramePr/>
          <p:nvPr/>
        </p:nvGraphicFramePr>
        <p:xfrm>
          <a:off x="2996213" y="137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{C7C23C97-1404-48A9-A4E1-9671BFD3287E}</a:tableStyleId>
              </a:tblPr>
              <a:tblGrid>
                <a:gridCol w="2560250"/>
                <a:gridCol w="2569425"/>
              </a:tblGrid>
              <a:tr h="3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700"/>
                        <a:t>Already accomplished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700"/>
                        <a:t>What is left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207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Collecting data : 1000 FIFA videos and some real videos but of poor quality for the pose estimation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 Standardization of videos 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 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Initial development of the          pose estimation model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Improve the pose estimation model for real and fifa videos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 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Expand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 dataset &amp; enhance the automatic labeling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-&gt;</a:t>
                      </a:r>
                      <a:r>
                        <a:rPr lang="fr"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Implement &amp; train the model based on ST_Trans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000" y="4007851"/>
            <a:ext cx="494175" cy="4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Since the midterm presentation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Pose estimation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344837" y="12992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fr"/>
              <a:t>Implementation of a new pose estimation model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fr"/>
              <a:t>Yolov8 (latest version of pose estimation model)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fr"/>
              <a:t>Extracting important key points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fr"/>
              <a:t>Implementing certainty score for each key point 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25" y="2771725"/>
            <a:ext cx="2638226" cy="17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2575" y="2769409"/>
            <a:ext cx="2747750" cy="1721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Expanding Dataset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2454462" y="15847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Standardization of the input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30 frames : 12 body joints coordinates (x,y, certainty score)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30*36 → 1’080 inputs per penalty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Enhancement of automatic labeling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More than 1’500 videos in total 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125 penalties from real footage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1’385 from FIFA 23 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26" y="1363750"/>
            <a:ext cx="1980574" cy="2519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Model Implementation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2410100" y="1151428"/>
            <a:ext cx="4056600" cy="23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Inspired from ST_Trans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4 convolutional layers for feature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8 transformer layers to focus on different aspects of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8 residuals blocks to refine learned features across layers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25" y="1619250"/>
            <a:ext cx="1905000" cy="190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0"/>
          <p:cNvGraphicFramePr/>
          <p:nvPr/>
        </p:nvGraphicFramePr>
        <p:xfrm>
          <a:off x="6329725" y="219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{87856C89-8946-46F5-80D5-34DB97310172}</a:tableStyleId>
              </a:tblPr>
              <a:tblGrid>
                <a:gridCol w="851400"/>
                <a:gridCol w="851400"/>
                <a:gridCol w="830450"/>
              </a:tblGrid>
              <a:tr h="66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37.29 %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2.03 %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17.04 %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21.42 %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0.23 %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200"/>
                        <a:t>21.81 %</a:t>
                      </a:r>
                      <a:endParaRPr b="1" sz="12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2410100" y="3356875"/>
            <a:ext cx="6407400" cy="16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Unbalanced dataset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To avoid overfitting → reduced to 4 zones, removal of BC &amp; 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Tuning of hyperparameters (learning rate, etc) with Optuna.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Results</a:t>
            </a:r>
            <a:endParaRPr/>
          </a:p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869600" y="-54950"/>
            <a:ext cx="3837000" cy="23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Training data : 1’000 penalties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Validation data : 100 penalties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Testing data : 100 penalties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Accuracy : 35 %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Improvement of only 10%</a:t>
            </a: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750" y="2395425"/>
            <a:ext cx="3350626" cy="25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Limitations &amp; Improvements</a:t>
            </a:r>
            <a:endParaRPr/>
          </a:p>
        </p:txBody>
      </p:sp>
      <p:sp>
        <p:nvSpPr>
          <p:cNvPr id="140" name="Google Shape;140;p22"/>
          <p:cNvSpPr txBox="1"/>
          <p:nvPr>
            <p:ph idx="2" type="body"/>
          </p:nvPr>
        </p:nvSpPr>
        <p:spPr>
          <a:xfrm>
            <a:off x="4939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Unbalanced set → d</a:t>
            </a:r>
            <a:r>
              <a:rPr lang="fr"/>
              <a:t>ata collection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Data augmentation : symmetrical inversion, rotation, etc.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Dimensionality reduction : PCA, etc.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3D pose estimation instead of 2D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fr"/>
              <a:t>Integration of additional features (right-footed or left-footed for instance)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